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vUMf9PBwNmaiBw/vcvzMwaS8m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704B59-419E-4A9D-AA6A-DB6D4311E65A}">
  <a:tblStyle styleId="{FF704B59-419E-4A9D-AA6A-DB6D4311E6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-3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b01b740ba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3fb01b740ba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docs.google.com/spreadsheets/d/1YBnG_-reh_0Rs9T1RGrpaLWOsOo6WVraTz80K2Wk2DI/edit?usp=sharing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hyperlink" Target="https://www.eclearnix.com" TargetMode="External"/><Relationship Id="rId3" Type="http://schemas.openxmlformats.org/officeDocument/2006/relationships/image" Target="../media/image1.jp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Relationship Id="rId14" Type="http://schemas.openxmlformats.org/officeDocument/2006/relationships/hyperlink" Target="https://www.allcollegeevent.c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51" r="-6251"/>
            </a:stretch>
          </a:blipFill>
          <a:ln>
            <a:noFill/>
          </a:ln>
        </p:spPr>
      </p:sp>
      <p:sp>
        <p:nvSpPr>
          <p:cNvPr id="85" name="Google Shape;85;p2"/>
          <p:cNvSpPr/>
          <p:nvPr/>
        </p:nvSpPr>
        <p:spPr>
          <a:xfrm>
            <a:off x="-832600" y="8721930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2"/>
          <p:cNvSpPr/>
          <p:nvPr/>
        </p:nvSpPr>
        <p:spPr>
          <a:xfrm>
            <a:off x="13869635" y="-179281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sp>
        <p:nvSpPr>
          <p:cNvPr id="87" name="Google Shape;87;p2"/>
          <p:cNvSpPr txBox="1"/>
          <p:nvPr/>
        </p:nvSpPr>
        <p:spPr>
          <a:xfrm>
            <a:off x="4418378" y="347119"/>
            <a:ext cx="9451245" cy="209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1" i="0" u="sng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HACKGURU 2026</a:t>
            </a:r>
            <a:endParaRPr/>
          </a:p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Organized by Kumaraguru College of Technology</a:t>
            </a:r>
            <a:endParaRPr/>
          </a:p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&amp;</a:t>
            </a:r>
            <a:endParaRPr/>
          </a:p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Eclearnix Edtech LLC </a:t>
            </a:r>
            <a:endParaRPr/>
          </a:p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Round 1 </a:t>
            </a:r>
            <a:endParaRPr/>
          </a:p>
        </p:txBody>
      </p:sp>
      <p:sp>
        <p:nvSpPr>
          <p:cNvPr id="88" name="Google Shape;88;p2"/>
          <p:cNvSpPr txBox="1"/>
          <p:nvPr/>
        </p:nvSpPr>
        <p:spPr>
          <a:xfrm>
            <a:off x="693344" y="2438475"/>
            <a:ext cx="9378900" cy="6793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Chosen Hackathon Domain 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1809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24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Domain 1 - AI-Driven Event Intelligence Platform Solution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1277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99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Domain 2- </a:t>
            </a:r>
            <a:endParaRPr sz="2100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.1 - AI Event Understanding &amp; Classification Engine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.2  - AI Personalized Event Recommendation System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.3 - AI Smart Search &amp; Discovery Assistant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.4 - AI Event Quality &amp; Verification Scanner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.5 - AI User Engagement Enhancement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.6- AI User Engagement Enhancement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9316224" y="5472531"/>
            <a:ext cx="8597972" cy="434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Team Details : 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3390" marR="0" lvl="1" indent="-226695" algn="l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Team Name :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FlashFive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3390" lvl="1" indent="-226695">
              <a:lnSpc>
                <a:spcPct val="109000"/>
              </a:lnSpc>
              <a:buClr>
                <a:srgbClr val="FFFFFF"/>
              </a:buClr>
              <a:buSzPts val="2100"/>
              <a:buFont typeface="Arial"/>
              <a:buChar char="•"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Domain Name  :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2.1 - AI Event Understanding &amp; Classification Engine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6695" lvl="1">
              <a:lnSpc>
                <a:spcPct val="109000"/>
              </a:lnSpc>
              <a:buClr>
                <a:srgbClr val="FFFFFF"/>
              </a:buClr>
              <a:buSzPts val="2100"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		         2.2  - AI Personalized Event Recommendation 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6695" lvl="1">
              <a:lnSpc>
                <a:spcPct val="109000"/>
              </a:lnSpc>
              <a:buClr>
                <a:srgbClr val="FFFFFF"/>
              </a:buClr>
              <a:buSzPts val="2100"/>
            </a:pPr>
            <a:r>
              <a:rPr lang="fr-FR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		         2.5 - AI User Engagement </a:t>
            </a:r>
            <a:r>
              <a:rPr lang="fr-FR" dirty="0" err="1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Enhancement</a:t>
            </a:r>
            <a:endParaRPr lang="fr-FR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26695" lvl="1">
              <a:lnSpc>
                <a:spcPct val="109000"/>
              </a:lnSpc>
              <a:buClr>
                <a:srgbClr val="FFFFFF"/>
              </a:buClr>
              <a:buSzPts val="2100"/>
            </a:pPr>
            <a:endParaRPr sz="21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3390" marR="0" lvl="1" indent="-226695" algn="l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Single Point of Contact (SPOC) or Team lead Name :Raja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Murugapappa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 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3390" marR="0" lvl="1" indent="-226695" algn="l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SPOC Email ID : rajamurugappa1@gmail.com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3390" marR="0" lvl="1" indent="-226695" algn="l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SPOC Mobile Number :6385908881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0" name="Google Shape;90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75" y="347125"/>
            <a:ext cx="3226975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34996" y="399846"/>
            <a:ext cx="4579200" cy="75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51" r="-6251"/>
            </a:stretch>
          </a:blipFill>
          <a:ln>
            <a:noFill/>
          </a:ln>
        </p:spPr>
      </p:sp>
      <p:sp>
        <p:nvSpPr>
          <p:cNvPr id="97" name="Google Shape;97;p3"/>
          <p:cNvSpPr/>
          <p:nvPr/>
        </p:nvSpPr>
        <p:spPr>
          <a:xfrm>
            <a:off x="-1008400" y="7315855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sp>
        <p:nvSpPr>
          <p:cNvPr id="98" name="Google Shape;98;p3"/>
          <p:cNvSpPr txBox="1"/>
          <p:nvPr/>
        </p:nvSpPr>
        <p:spPr>
          <a:xfrm>
            <a:off x="4247567" y="1308671"/>
            <a:ext cx="9792866" cy="62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7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8" b="1" i="0" u="none" strike="noStrike" cap="none">
                <a:solidFill>
                  <a:srgbClr val="FEFEFE"/>
                </a:solidFill>
                <a:latin typeface="Times"/>
                <a:ea typeface="Times"/>
                <a:cs typeface="Times"/>
                <a:sym typeface="Times"/>
              </a:rPr>
              <a:t>TEAM MEMBER’S NAMES &amp; CONTACT DETAILS</a:t>
            </a:r>
            <a:endParaRPr/>
          </a:p>
        </p:txBody>
      </p:sp>
      <p:graphicFrame>
        <p:nvGraphicFramePr>
          <p:cNvPr id="99" name="Google Shape;99;p3"/>
          <p:cNvGraphicFramePr/>
          <p:nvPr>
            <p:extLst>
              <p:ext uri="{D42A27DB-BD31-4B8C-83A1-F6EECF244321}">
                <p14:modId xmlns:p14="http://schemas.microsoft.com/office/powerpoint/2010/main" val="3656373073"/>
              </p:ext>
            </p:extLst>
          </p:nvPr>
        </p:nvGraphicFramePr>
        <p:xfrm>
          <a:off x="644677" y="1998019"/>
          <a:ext cx="16381075" cy="7941856"/>
        </p:xfrm>
        <a:graphic>
          <a:graphicData uri="http://schemas.openxmlformats.org/drawingml/2006/table">
            <a:tbl>
              <a:tblPr>
                <a:noFill/>
                <a:tableStyleId>{FF704B59-419E-4A9D-AA6A-DB6D4311E65A}</a:tableStyleId>
              </a:tblPr>
              <a:tblGrid>
                <a:gridCol w="97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9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7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8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4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5070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80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b="1" u="none" strike="noStrike" cap="none">
                          <a:solidFill>
                            <a:srgbClr val="FFFFFF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S.no</a:t>
                      </a:r>
                      <a:endParaRPr sz="1100" u="none" strike="noStrike" cap="none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b="1" u="none" strike="noStrike" cap="none">
                          <a:solidFill>
                            <a:srgbClr val="FFFFFF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Hackathon ID*</a:t>
                      </a:r>
                      <a:endParaRPr sz="1100" u="none" strike="noStrike" cap="none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80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b="1" u="none" strike="noStrike" cap="none" dirty="0">
                          <a:solidFill>
                            <a:srgbClr val="FFFFFF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Team Member Name</a:t>
                      </a:r>
                      <a:endParaRPr sz="1100" u="none" strike="noStrike" cap="none" dirty="0"/>
                    </a:p>
                    <a:p>
                      <a:pPr marL="0" marR="0" lvl="0" indent="0" algn="ctr" rtl="0">
                        <a:lnSpc>
                          <a:spcPct val="1332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b="1" u="none" strike="noStrike" cap="none" dirty="0">
                          <a:solidFill>
                            <a:srgbClr val="FFFFFF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(*)</a:t>
                      </a:r>
                      <a:endParaRPr dirty="0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80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b="1" u="none" strike="noStrike" cap="none">
                          <a:solidFill>
                            <a:srgbClr val="FFFFFF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WhatsApp Contact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680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b="1" u="none" strike="noStrike" cap="none">
                          <a:solidFill>
                            <a:srgbClr val="FFFFFF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Number</a:t>
                      </a:r>
                      <a:endParaRPr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80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b="1" u="none" strike="noStrike" cap="none">
                          <a:solidFill>
                            <a:srgbClr val="FFFFFF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Role in the Hackathon (#)</a:t>
                      </a:r>
                      <a:endParaRPr sz="1100" u="none" strike="noStrike" cap="none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80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b="1" u="none" strike="noStrike" cap="none">
                          <a:solidFill>
                            <a:srgbClr val="FFFFFF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Designation(Employee/ UG/ PG Student / etc)</a:t>
                      </a:r>
                      <a:endParaRPr sz="1100" u="none" strike="noStrike" cap="none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80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b="1" u="none" strike="noStrike" cap="none" dirty="0">
                          <a:solidFill>
                            <a:srgbClr val="FFFFFF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College / Organization Name and Department State &amp; Country</a:t>
                      </a:r>
                      <a:endParaRPr sz="1100" u="none" strike="noStrike" cap="none" dirty="0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5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80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b="1" u="none" strike="noStrike" cap="none" dirty="0">
                          <a:solidFill>
                            <a:srgbClr val="FFFFFF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1.</a:t>
                      </a:r>
                      <a:endParaRPr sz="1100" u="none" strike="noStrike" cap="none" dirty="0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00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b="1" u="none" strike="noStrike" cap="none" dirty="0">
                          <a:solidFill>
                            <a:srgbClr val="FFFFFF"/>
                          </a:solidFill>
                          <a:latin typeface="Times"/>
                          <a:cs typeface="Times"/>
                          <a:sym typeface="Times"/>
                        </a:rPr>
                        <a:t>HGURU0059</a:t>
                      </a:r>
                      <a:endParaRPr sz="1100" u="none" strike="noStrike" cap="none" dirty="0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00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b="1" u="none" strike="noStrike" cap="none" dirty="0">
                          <a:solidFill>
                            <a:srgbClr val="FFFFFF"/>
                          </a:solidFill>
                          <a:latin typeface="Times"/>
                          <a:cs typeface="Times"/>
                          <a:sym typeface="Times"/>
                        </a:rPr>
                        <a:t>Raja Murugappa</a:t>
                      </a:r>
                      <a:endParaRPr sz="1100" u="none" strike="noStrike" cap="none" dirty="0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80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b="1" u="none" strike="noStrike" cap="none" dirty="0">
                          <a:solidFill>
                            <a:srgbClr val="FFFFFF"/>
                          </a:solidFill>
                          <a:latin typeface="Times"/>
                          <a:cs typeface="Times"/>
                          <a:sym typeface="Times"/>
                        </a:rPr>
                        <a:t>63859 08881</a:t>
                      </a:r>
                      <a:endParaRPr sz="1100" u="none" strike="noStrike" cap="none" dirty="0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80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b="1" u="none" strike="noStrike" cap="none" dirty="0">
                          <a:solidFill>
                            <a:srgbClr val="FFFFFF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SPOC</a:t>
                      </a:r>
                      <a:endParaRPr sz="1100" u="none" strike="noStrike" cap="none" dirty="0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00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b="1" u="none" strike="noStrike" cap="none" dirty="0">
                          <a:solidFill>
                            <a:srgbClr val="FFFFFF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UG Student</a:t>
                      </a:r>
                      <a:endParaRPr sz="1100" u="none" strike="noStrike" cap="none" dirty="0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00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FFFFFF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Kumaraguru COLLEGE OF TECHNOLOGY</a:t>
                      </a:r>
                      <a:endParaRPr sz="1400" u="none" strike="noStrike" cap="none" dirty="0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586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80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b="1" u="none" strike="noStrike" cap="none">
                          <a:solidFill>
                            <a:srgbClr val="FFFFFF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2.</a:t>
                      </a:r>
                      <a:endParaRPr sz="1100" u="none" strike="noStrike" cap="none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HGURU0059</a:t>
                      </a:r>
                      <a:endParaRPr sz="1600" b="1" i="0" u="none" strike="noStrike" cap="none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6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Aravind</a:t>
                      </a:r>
                      <a:endParaRPr sz="1600" b="1" u="none" strike="noStrike" cap="none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6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bg1"/>
                          </a:solidFill>
                        </a:rPr>
                        <a:t>8248957895</a:t>
                      </a:r>
                      <a:r>
                        <a:rPr lang="en-US" sz="1100" u="none" strike="noStrike" cap="none" dirty="0"/>
                        <a:t>dd</a:t>
                      </a:r>
                      <a:endParaRPr sz="1100" u="none" strike="noStrike" cap="none" dirty="0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6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u="none" strike="noStrike" cap="none" dirty="0">
                          <a:solidFill>
                            <a:schemeClr val="bg1"/>
                          </a:solidFill>
                        </a:rPr>
                        <a:t>Developer</a:t>
                      </a:r>
                      <a:endParaRPr sz="1400" b="1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6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bg1"/>
                          </a:solidFill>
                        </a:rPr>
                        <a:t>UG Student</a:t>
                      </a:r>
                      <a:endParaRPr sz="1600" b="1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36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u="none" strike="noStrike" cap="none" dirty="0">
                          <a:solidFill>
                            <a:schemeClr val="bg1"/>
                          </a:solidFill>
                        </a:rPr>
                        <a:t>Kumaraguru college of Technology</a:t>
                      </a: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586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80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b="1" u="none" strike="noStrike" cap="none">
                          <a:solidFill>
                            <a:srgbClr val="FFFFFF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3.</a:t>
                      </a:r>
                      <a:endParaRPr sz="1100" u="none" strike="noStrike" cap="none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bg1"/>
                          </a:solidFill>
                        </a:rPr>
                        <a:t>HGURU0059</a:t>
                      </a:r>
                      <a:endParaRPr sz="1600" b="1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6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bg1"/>
                          </a:solidFill>
                        </a:rPr>
                        <a:t>Navneeth</a:t>
                      </a:r>
                      <a:endParaRPr sz="1600" b="1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6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u="none" strike="noStrike" cap="none" dirty="0">
                          <a:solidFill>
                            <a:schemeClr val="bg1"/>
                          </a:solidFill>
                        </a:rPr>
                        <a:t>99941 38347</a:t>
                      </a:r>
                      <a:endParaRPr sz="1600" b="1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6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strike="noStrike" cap="none" dirty="0">
                          <a:solidFill>
                            <a:schemeClr val="bg1"/>
                          </a:solidFill>
                        </a:rPr>
                        <a:t>Debugger</a:t>
                      </a:r>
                      <a:endParaRPr sz="1600" u="none" strike="noStrike" cap="none" dirty="0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36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u="none" strike="noStrike" cap="none" dirty="0">
                          <a:solidFill>
                            <a:schemeClr val="bg1"/>
                          </a:solidFill>
                        </a:rPr>
                        <a:t>UG Student</a:t>
                      </a: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6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bg1"/>
                          </a:solidFill>
                        </a:rPr>
                        <a:t>Kumaraguru College of Technology</a:t>
                      </a:r>
                      <a:endParaRPr sz="1200" b="1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274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80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b="1" u="none" strike="noStrike" cap="none">
                          <a:solidFill>
                            <a:srgbClr val="FFFFFF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4.</a:t>
                      </a:r>
                      <a:endParaRPr sz="1100" u="none" strike="noStrike" cap="none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bg1"/>
                          </a:solidFill>
                        </a:rPr>
                        <a:t>HGURU0059</a:t>
                      </a:r>
                      <a:endParaRPr sz="1600" b="1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 err="1">
                          <a:solidFill>
                            <a:schemeClr val="bg1"/>
                          </a:solidFill>
                        </a:rPr>
                        <a:t>Thiyashini</a:t>
                      </a:r>
                      <a:r>
                        <a:rPr lang="en-US" sz="1600" b="1" u="none" strike="noStrike" cap="none" dirty="0">
                          <a:solidFill>
                            <a:schemeClr val="bg1"/>
                          </a:solidFill>
                        </a:rPr>
                        <a:t> Ganesh</a:t>
                      </a:r>
                      <a:endParaRPr sz="1600" b="1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bg1"/>
                          </a:solidFill>
                        </a:rPr>
                        <a:t>9080883401</a:t>
                      </a:r>
                      <a:endParaRPr sz="1600" b="1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solidFill>
                            <a:schemeClr val="bg1"/>
                          </a:solidFill>
                        </a:rPr>
                        <a:t>Tester</a:t>
                      </a:r>
                      <a:endParaRPr sz="18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u="none" strike="noStrike" cap="none" dirty="0">
                          <a:solidFill>
                            <a:schemeClr val="bg1"/>
                          </a:solidFill>
                        </a:rPr>
                        <a:t>UG Student</a:t>
                      </a:r>
                    </a:p>
                    <a:p>
                      <a:pPr marL="0" marR="0" lvl="0" indent="0" algn="ctr" rtl="0">
                        <a:lnSpc>
                          <a:spcPct val="20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bg1"/>
                          </a:solidFill>
                        </a:rPr>
                        <a:t>Kumaraguru College of Technology</a:t>
                      </a:r>
                      <a:endParaRPr sz="1200" b="1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52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80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b="1" u="none" strike="noStrike" cap="none">
                          <a:solidFill>
                            <a:srgbClr val="FFFFFF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5.</a:t>
                      </a:r>
                      <a:endParaRPr sz="1100" u="none" strike="noStrike" cap="none"/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bg1"/>
                          </a:solidFill>
                        </a:rPr>
                        <a:t>HGURU0059</a:t>
                      </a:r>
                      <a:endParaRPr sz="1600" b="1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bg1"/>
                          </a:solidFill>
                        </a:rPr>
                        <a:t>Sripal</a:t>
                      </a:r>
                      <a:endParaRPr sz="1600" b="1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bg1"/>
                          </a:solidFill>
                        </a:rPr>
                        <a:t>9791468285</a:t>
                      </a:r>
                      <a:endParaRPr sz="1600" b="1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strike="noStrike" cap="none" dirty="0">
                          <a:solidFill>
                            <a:schemeClr val="bg1"/>
                          </a:solidFill>
                        </a:rPr>
                        <a:t>Research Analyst</a:t>
                      </a:r>
                      <a:endParaRPr sz="16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bg1"/>
                          </a:solidFill>
                        </a:rPr>
                        <a:t>UG Student</a:t>
                      </a:r>
                      <a:endParaRPr sz="1600" b="1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bg1"/>
                          </a:solidFill>
                        </a:rPr>
                        <a:t>Kumaraguru College of Technology</a:t>
                      </a:r>
                      <a:endParaRPr sz="1200" b="1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01600" marR="101600" marT="101600" marB="101600" anchor="ctr">
                    <a:lnL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03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0" name="Google Shape;100;p3"/>
          <p:cNvSpPr txBox="1"/>
          <p:nvPr/>
        </p:nvSpPr>
        <p:spPr>
          <a:xfrm>
            <a:off x="472275" y="10200400"/>
            <a:ext cx="16438200" cy="11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9" b="1" i="0" u="sng" strike="noStrike" cap="none">
                <a:solidFill>
                  <a:srgbClr val="FCFCFD"/>
                </a:solidFill>
                <a:latin typeface="Times"/>
                <a:ea typeface="Times"/>
                <a:cs typeface="Times"/>
                <a:sym typeface="Time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(*) You will receive your Hackathon ID after completing registration and downloading the Eclearnix app. Click here to continue.</a:t>
            </a:r>
            <a:endParaRPr/>
          </a:p>
          <a:p>
            <a:pPr marL="0" marR="0" lvl="0" indent="0" algn="ctr" rtl="0">
              <a:lnSpc>
                <a:spcPct val="133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9" b="1" i="0" u="sng" strike="noStrike" cap="none">
                <a:solidFill>
                  <a:srgbClr val="FCFCFD"/>
                </a:solidFill>
                <a:latin typeface="Times"/>
                <a:ea typeface="Times"/>
                <a:cs typeface="Times"/>
                <a:sym typeface="Time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(#) - Project Leader, Research Analyst, Developer, Tester / Debugger, Documentation Lead</a:t>
            </a:r>
            <a:r>
              <a:rPr lang="en-US" sz="2279" b="0" i="0" u="sng" strike="noStrike" cap="none">
                <a:solidFill>
                  <a:srgbClr val="FCFCFD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, </a:t>
            </a:r>
            <a:r>
              <a:rPr lang="en-US" sz="2279" b="1" i="0" u="sng" strike="noStrike" cap="none">
                <a:solidFill>
                  <a:srgbClr val="FCFCFD"/>
                </a:solidFill>
                <a:latin typeface="Times"/>
                <a:ea typeface="Times"/>
                <a:cs typeface="Times"/>
                <a:sym typeface="Time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 Lead, etc..</a:t>
            </a:r>
            <a:endParaRPr/>
          </a:p>
          <a:p>
            <a:pPr marL="0" marR="0" lvl="0" indent="0" algn="ctr" rtl="0">
              <a:lnSpc>
                <a:spcPct val="1332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79" b="1" i="0" u="sng" strike="noStrike" cap="none">
              <a:solidFill>
                <a:srgbClr val="FCFCFD"/>
              </a:solidFill>
              <a:latin typeface="Times"/>
              <a:ea typeface="Times"/>
              <a:cs typeface="Times"/>
              <a:sym typeface="Times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01" name="Google Shape;101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275" y="347125"/>
            <a:ext cx="3226975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922041" y="776525"/>
            <a:ext cx="4579200" cy="75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51" r="-6251"/>
            </a:stretch>
          </a:blipFill>
          <a:ln>
            <a:noFill/>
          </a:ln>
        </p:spPr>
      </p:sp>
      <p:sp>
        <p:nvSpPr>
          <p:cNvPr id="108" name="Google Shape;108;p4"/>
          <p:cNvSpPr/>
          <p:nvPr/>
        </p:nvSpPr>
        <p:spPr>
          <a:xfrm>
            <a:off x="-220300" y="6998380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sp>
        <p:nvSpPr>
          <p:cNvPr id="109" name="Google Shape;109;p4"/>
          <p:cNvSpPr/>
          <p:nvPr/>
        </p:nvSpPr>
        <p:spPr>
          <a:xfrm>
            <a:off x="13778560" y="-340439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4"/>
          <p:cNvSpPr/>
          <p:nvPr/>
        </p:nvSpPr>
        <p:spPr>
          <a:xfrm>
            <a:off x="2127304" y="2434959"/>
            <a:ext cx="3424548" cy="841155"/>
          </a:xfrm>
          <a:custGeom>
            <a:avLst/>
            <a:gdLst/>
            <a:ahLst/>
            <a:cxnLst/>
            <a:rect l="l" t="t" r="r" b="b"/>
            <a:pathLst>
              <a:path w="3424548" h="841155" extrusionOk="0">
                <a:moveTo>
                  <a:pt x="0" y="0"/>
                </a:moveTo>
                <a:lnTo>
                  <a:pt x="3424548" y="0"/>
                </a:lnTo>
                <a:lnTo>
                  <a:pt x="3424548" y="841154"/>
                </a:lnTo>
                <a:lnTo>
                  <a:pt x="0" y="841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4"/>
          <p:cNvSpPr/>
          <p:nvPr/>
        </p:nvSpPr>
        <p:spPr>
          <a:xfrm>
            <a:off x="12203466" y="2434959"/>
            <a:ext cx="2404993" cy="841155"/>
          </a:xfrm>
          <a:custGeom>
            <a:avLst/>
            <a:gdLst/>
            <a:ahLst/>
            <a:cxnLst/>
            <a:rect l="l" t="t" r="r" b="b"/>
            <a:pathLst>
              <a:path w="2404993" h="841155" extrusionOk="0">
                <a:moveTo>
                  <a:pt x="0" y="0"/>
                </a:moveTo>
                <a:lnTo>
                  <a:pt x="2404993" y="0"/>
                </a:lnTo>
                <a:lnTo>
                  <a:pt x="2404993" y="841154"/>
                </a:lnTo>
                <a:lnTo>
                  <a:pt x="0" y="841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26858"/>
            </a:stretch>
          </a:blipFill>
          <a:ln>
            <a:noFill/>
          </a:ln>
        </p:spPr>
      </p:sp>
      <p:sp>
        <p:nvSpPr>
          <p:cNvPr id="112" name="Google Shape;112;p4"/>
          <p:cNvSpPr/>
          <p:nvPr/>
        </p:nvSpPr>
        <p:spPr>
          <a:xfrm>
            <a:off x="1865696" y="4078832"/>
            <a:ext cx="1830998" cy="1765896"/>
          </a:xfrm>
          <a:custGeom>
            <a:avLst/>
            <a:gdLst/>
            <a:ahLst/>
            <a:cxnLst/>
            <a:rect l="l" t="t" r="r" b="b"/>
            <a:pathLst>
              <a:path w="1830998" h="1765896" extrusionOk="0">
                <a:moveTo>
                  <a:pt x="0" y="0"/>
                </a:moveTo>
                <a:lnTo>
                  <a:pt x="1830998" y="0"/>
                </a:lnTo>
                <a:lnTo>
                  <a:pt x="1830998" y="1765896"/>
                </a:lnTo>
                <a:lnTo>
                  <a:pt x="0" y="1765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3" name="Google Shape;113;p4"/>
          <p:cNvSpPr/>
          <p:nvPr/>
        </p:nvSpPr>
        <p:spPr>
          <a:xfrm>
            <a:off x="4757451" y="6331249"/>
            <a:ext cx="794401" cy="315079"/>
          </a:xfrm>
          <a:custGeom>
            <a:avLst/>
            <a:gdLst/>
            <a:ahLst/>
            <a:cxnLst/>
            <a:rect l="l" t="t" r="r" b="b"/>
            <a:pathLst>
              <a:path w="794401" h="315079" extrusionOk="0">
                <a:moveTo>
                  <a:pt x="0" y="0"/>
                </a:moveTo>
                <a:lnTo>
                  <a:pt x="794401" y="0"/>
                </a:lnTo>
                <a:lnTo>
                  <a:pt x="794401" y="315079"/>
                </a:lnTo>
                <a:lnTo>
                  <a:pt x="0" y="315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4" name="Google Shape;114;p4"/>
          <p:cNvSpPr/>
          <p:nvPr/>
        </p:nvSpPr>
        <p:spPr>
          <a:xfrm>
            <a:off x="14390144" y="6315951"/>
            <a:ext cx="832971" cy="330377"/>
          </a:xfrm>
          <a:custGeom>
            <a:avLst/>
            <a:gdLst/>
            <a:ahLst/>
            <a:cxnLst/>
            <a:rect l="l" t="t" r="r" b="b"/>
            <a:pathLst>
              <a:path w="832971" h="330377" extrusionOk="0">
                <a:moveTo>
                  <a:pt x="0" y="0"/>
                </a:moveTo>
                <a:lnTo>
                  <a:pt x="832971" y="0"/>
                </a:lnTo>
                <a:lnTo>
                  <a:pt x="832971" y="330377"/>
                </a:lnTo>
                <a:lnTo>
                  <a:pt x="0" y="3303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5" name="Google Shape;115;p4"/>
          <p:cNvSpPr/>
          <p:nvPr/>
        </p:nvSpPr>
        <p:spPr>
          <a:xfrm>
            <a:off x="1993957" y="6315951"/>
            <a:ext cx="1574476" cy="345675"/>
          </a:xfrm>
          <a:custGeom>
            <a:avLst/>
            <a:gdLst/>
            <a:ahLst/>
            <a:cxnLst/>
            <a:rect l="l" t="t" r="r" b="b"/>
            <a:pathLst>
              <a:path w="1574476" h="345675" extrusionOk="0">
                <a:moveTo>
                  <a:pt x="0" y="0"/>
                </a:moveTo>
                <a:lnTo>
                  <a:pt x="1574476" y="0"/>
                </a:lnTo>
                <a:lnTo>
                  <a:pt x="1574476" y="345675"/>
                </a:lnTo>
                <a:lnTo>
                  <a:pt x="0" y="3456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6" name="Google Shape;116;p4"/>
          <p:cNvSpPr/>
          <p:nvPr/>
        </p:nvSpPr>
        <p:spPr>
          <a:xfrm>
            <a:off x="11625042" y="4099545"/>
            <a:ext cx="1765896" cy="1765896"/>
          </a:xfrm>
          <a:custGeom>
            <a:avLst/>
            <a:gdLst/>
            <a:ahLst/>
            <a:cxnLst/>
            <a:rect l="l" t="t" r="r" b="b"/>
            <a:pathLst>
              <a:path w="1765896" h="1765896" extrusionOk="0">
                <a:moveTo>
                  <a:pt x="0" y="0"/>
                </a:moveTo>
                <a:lnTo>
                  <a:pt x="1765896" y="0"/>
                </a:lnTo>
                <a:lnTo>
                  <a:pt x="1765896" y="1765896"/>
                </a:lnTo>
                <a:lnTo>
                  <a:pt x="0" y="1765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7" name="Google Shape;117;p4"/>
          <p:cNvSpPr/>
          <p:nvPr/>
        </p:nvSpPr>
        <p:spPr>
          <a:xfrm>
            <a:off x="13924338" y="4099545"/>
            <a:ext cx="1773996" cy="1765896"/>
          </a:xfrm>
          <a:custGeom>
            <a:avLst/>
            <a:gdLst/>
            <a:ahLst/>
            <a:cxnLst/>
            <a:rect l="l" t="t" r="r" b="b"/>
            <a:pathLst>
              <a:path w="1773996" h="1765896" extrusionOk="0">
                <a:moveTo>
                  <a:pt x="0" y="0"/>
                </a:moveTo>
                <a:lnTo>
                  <a:pt x="1773996" y="0"/>
                </a:lnTo>
                <a:lnTo>
                  <a:pt x="1773996" y="1765896"/>
                </a:lnTo>
                <a:lnTo>
                  <a:pt x="0" y="1765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8" name="Google Shape;118;p4"/>
          <p:cNvSpPr/>
          <p:nvPr/>
        </p:nvSpPr>
        <p:spPr>
          <a:xfrm>
            <a:off x="4226318" y="4078832"/>
            <a:ext cx="1856666" cy="1765896"/>
          </a:xfrm>
          <a:custGeom>
            <a:avLst/>
            <a:gdLst/>
            <a:ahLst/>
            <a:cxnLst/>
            <a:rect l="l" t="t" r="r" b="b"/>
            <a:pathLst>
              <a:path w="1856666" h="1765896" extrusionOk="0">
                <a:moveTo>
                  <a:pt x="0" y="0"/>
                </a:moveTo>
                <a:lnTo>
                  <a:pt x="1856666" y="0"/>
                </a:lnTo>
                <a:lnTo>
                  <a:pt x="1856666" y="1765896"/>
                </a:lnTo>
                <a:lnTo>
                  <a:pt x="0" y="1765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9" name="Google Shape;119;p4"/>
          <p:cNvSpPr txBox="1"/>
          <p:nvPr/>
        </p:nvSpPr>
        <p:spPr>
          <a:xfrm>
            <a:off x="1776102" y="7497909"/>
            <a:ext cx="4900433" cy="1000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FCFCF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Website: 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sng" strike="noStrike" cap="none">
                <a:solidFill>
                  <a:srgbClr val="FCFCFD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https://www.eclearnix.com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10447499" y="7370486"/>
            <a:ext cx="5894359" cy="1971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0" i="0" u="none" strike="noStrike" cap="none">
                <a:solidFill>
                  <a:srgbClr val="FCFCF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Website:</a:t>
            </a:r>
            <a:endParaRPr/>
          </a:p>
          <a:p>
            <a:pPr marL="0" marR="0" lvl="0" indent="0" algn="ctr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0" i="0" u="sng" strike="noStrike" cap="none">
                <a:solidFill>
                  <a:srgbClr val="FCFCFD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https://www.allcollegeevent.com</a:t>
            </a:r>
            <a:endParaRPr/>
          </a:p>
          <a:p>
            <a:pPr marL="0" marR="0" lvl="0" indent="0" algn="ctr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99" b="0" i="0" u="sng" strike="noStrike" cap="none">
              <a:solidFill>
                <a:srgbClr val="FCFCFD"/>
              </a:solidFill>
              <a:latin typeface="Times New Roman"/>
              <a:ea typeface="Times New Roman"/>
              <a:cs typeface="Times New Roman"/>
              <a:sym typeface="Times New Roman"/>
              <a:hlinkClick r:id="rId1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ctr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99" b="0" i="0" u="sng" strike="noStrike" cap="none">
              <a:solidFill>
                <a:srgbClr val="FCFCFD"/>
              </a:solidFill>
              <a:latin typeface="Times New Roman"/>
              <a:ea typeface="Times New Roman"/>
              <a:cs typeface="Times New Roman"/>
              <a:sym typeface="Times New Roman"/>
              <a:hlinkClick r:id="rId1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1720752" y="6315951"/>
            <a:ext cx="1574476" cy="345675"/>
          </a:xfrm>
          <a:custGeom>
            <a:avLst/>
            <a:gdLst/>
            <a:ahLst/>
            <a:cxnLst/>
            <a:rect l="l" t="t" r="r" b="b"/>
            <a:pathLst>
              <a:path w="1574476" h="345675" extrusionOk="0">
                <a:moveTo>
                  <a:pt x="0" y="0"/>
                </a:moveTo>
                <a:lnTo>
                  <a:pt x="1574476" y="0"/>
                </a:lnTo>
                <a:lnTo>
                  <a:pt x="1574476" y="345675"/>
                </a:lnTo>
                <a:lnTo>
                  <a:pt x="0" y="3456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22" name="Google Shape;122;p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72275" y="347125"/>
            <a:ext cx="3226975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3334996" y="399846"/>
            <a:ext cx="4579200" cy="75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51" r="-6251"/>
            </a:stretch>
          </a:blipFill>
          <a:ln>
            <a:noFill/>
          </a:ln>
        </p:spPr>
      </p:sp>
      <p:sp>
        <p:nvSpPr>
          <p:cNvPr id="129" name="Google Shape;129;p5"/>
          <p:cNvSpPr/>
          <p:nvPr/>
        </p:nvSpPr>
        <p:spPr>
          <a:xfrm>
            <a:off x="-832600" y="8721930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sp>
        <p:nvSpPr>
          <p:cNvPr id="130" name="Google Shape;130;p5"/>
          <p:cNvSpPr/>
          <p:nvPr/>
        </p:nvSpPr>
        <p:spPr>
          <a:xfrm>
            <a:off x="13687860" y="11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sp>
        <p:nvSpPr>
          <p:cNvPr id="131" name="Google Shape;131;p5"/>
          <p:cNvSpPr txBox="1"/>
          <p:nvPr/>
        </p:nvSpPr>
        <p:spPr>
          <a:xfrm>
            <a:off x="4306077" y="1088966"/>
            <a:ext cx="97536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96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Problem Statements</a:t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2606913" y="3683942"/>
            <a:ext cx="13650285" cy="3874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9977"/>
              </a:lnSpc>
            </a:pPr>
            <a:r>
              <a:rPr lang="en-US" sz="2623" b="1" dirty="0">
                <a:solidFill>
                  <a:schemeClr val="accent2"/>
                </a:solidFill>
                <a:latin typeface="Times New Roman" panose="02020603050405020304" pitchFamily="18" charset="0"/>
                <a:ea typeface="Times"/>
                <a:cs typeface="Times New Roman" panose="02020603050405020304" pitchFamily="18" charset="0"/>
                <a:sym typeface="Times"/>
              </a:rPr>
              <a:t>                  2.1 — AI Personalized Event Recommendation System</a:t>
            </a:r>
          </a:p>
          <a:p>
            <a:pPr lvl="0" algn="ctr">
              <a:lnSpc>
                <a:spcPct val="119977"/>
              </a:lnSpc>
            </a:pPr>
            <a:r>
              <a:rPr lang="en-US" sz="2623" b="1" dirty="0">
                <a:solidFill>
                  <a:srgbClr val="FFFFFF"/>
                </a:solidFill>
                <a:latin typeface="Times New Roman" panose="02020603050405020304" pitchFamily="18" charset="0"/>
                <a:ea typeface="Times"/>
                <a:cs typeface="Times New Roman" panose="02020603050405020304" pitchFamily="18" charset="0"/>
                <a:sym typeface="Times"/>
              </a:rPr>
              <a:t>Develop an AI-based recommendation system that analyzes student interests, preferences, and event interactions to recommend the most relevant college events to each student.</a:t>
            </a:r>
          </a:p>
          <a:p>
            <a:pPr lvl="0" algn="ctr">
              <a:lnSpc>
                <a:spcPct val="119977"/>
              </a:lnSpc>
            </a:pPr>
            <a:endParaRPr lang="en-US" sz="2623" b="1" dirty="0">
              <a:solidFill>
                <a:srgbClr val="FFFFFF"/>
              </a:solidFill>
              <a:latin typeface="Times New Roman" panose="02020603050405020304" pitchFamily="18" charset="0"/>
              <a:ea typeface="Times"/>
              <a:cs typeface="Times New Roman" panose="02020603050405020304" pitchFamily="18" charset="0"/>
              <a:sym typeface="Times"/>
            </a:endParaRPr>
          </a:p>
          <a:p>
            <a:pPr lvl="0" algn="ctr">
              <a:lnSpc>
                <a:spcPct val="119977"/>
              </a:lnSpc>
            </a:pPr>
            <a:endParaRPr lang="en-US" sz="2623" b="1" dirty="0">
              <a:solidFill>
                <a:srgbClr val="FFFFFF"/>
              </a:solidFill>
              <a:latin typeface="Times New Roman" panose="02020603050405020304" pitchFamily="18" charset="0"/>
              <a:ea typeface="Times"/>
              <a:cs typeface="Times New Roman" panose="02020603050405020304" pitchFamily="18" charset="0"/>
              <a:sym typeface="Times"/>
            </a:endParaRPr>
          </a:p>
          <a:p>
            <a:pPr lvl="0" algn="ctr">
              <a:lnSpc>
                <a:spcPct val="119977"/>
              </a:lnSpc>
            </a:pPr>
            <a:r>
              <a:rPr lang="en-US" sz="2623" b="1" dirty="0">
                <a:solidFill>
                  <a:schemeClr val="accent2"/>
                </a:solidFill>
                <a:latin typeface="Times New Roman" panose="02020603050405020304" pitchFamily="18" charset="0"/>
                <a:ea typeface="Times"/>
                <a:cs typeface="Times New Roman" panose="02020603050405020304" pitchFamily="18" charset="0"/>
                <a:sym typeface="Times"/>
              </a:rPr>
              <a:t>2.4 — AI User Engagement Enhancement</a:t>
            </a:r>
          </a:p>
          <a:p>
            <a:pPr lvl="0" algn="ctr">
              <a:lnSpc>
                <a:spcPct val="119977"/>
              </a:lnSpc>
            </a:pPr>
            <a:r>
              <a:rPr lang="en-US" sz="2623" b="1" dirty="0">
                <a:solidFill>
                  <a:srgbClr val="FFFFFF"/>
                </a:solidFill>
                <a:latin typeface="Times New Roman" panose="02020603050405020304" pitchFamily="18" charset="0"/>
                <a:ea typeface="Times"/>
                <a:cs typeface="Times New Roman" panose="02020603050405020304" pitchFamily="18" charset="0"/>
                <a:sym typeface="Times"/>
              </a:rPr>
              <a:t>   Develop AI-driven features such as personalized feeds, smart notifications,  and re-engagement mechanisms to increase student participation in relevant events.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" name="Google Shape;133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75" y="347125"/>
            <a:ext cx="3226975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34996" y="399846"/>
            <a:ext cx="4579200" cy="75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51" r="-6251"/>
            </a:stretch>
          </a:blipFill>
          <a:ln>
            <a:noFill/>
          </a:ln>
        </p:spPr>
      </p:sp>
      <p:sp>
        <p:nvSpPr>
          <p:cNvPr id="151" name="Google Shape;151;p7"/>
          <p:cNvSpPr/>
          <p:nvPr/>
        </p:nvSpPr>
        <p:spPr>
          <a:xfrm>
            <a:off x="-832600" y="8721930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4999"/>
            </a:blip>
            <a:stretch>
              <a:fillRect/>
            </a:stretch>
          </a:blipFill>
          <a:ln>
            <a:noFill/>
          </a:ln>
        </p:spPr>
      </p:sp>
      <p:sp>
        <p:nvSpPr>
          <p:cNvPr id="152" name="Google Shape;152;p7"/>
          <p:cNvSpPr/>
          <p:nvPr/>
        </p:nvSpPr>
        <p:spPr>
          <a:xfrm>
            <a:off x="13982685" y="-2217964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sp>
        <p:nvSpPr>
          <p:cNvPr id="153" name="Google Shape;153;p7"/>
          <p:cNvSpPr txBox="1"/>
          <p:nvPr/>
        </p:nvSpPr>
        <p:spPr>
          <a:xfrm>
            <a:off x="3832675" y="744425"/>
            <a:ext cx="9865200" cy="10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828800" lvl="0" indent="4572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DOMAIN 2</a:t>
            </a:r>
            <a:endParaRPr sz="25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AI-Driven Event Intelligence Platform Solution</a:t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2352225" y="3084025"/>
            <a:ext cx="10279800" cy="3852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2.1. AI Personalized Event Recommendation System</a:t>
            </a:r>
            <a:endParaRPr sz="2500" b="1" dirty="0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2.2. AI Smart Search &amp; Discovery Assistant</a:t>
            </a:r>
            <a:endParaRPr sz="2500" b="1" dirty="0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2.3. AI Event Quality &amp; Verification Scanner</a:t>
            </a:r>
            <a:endParaRPr sz="2900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2.4.  AI User Engagement Enhancement</a:t>
            </a:r>
            <a:endParaRPr sz="2900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2.5. AI Organizer Intelligence Assistant</a:t>
            </a:r>
            <a:endParaRPr sz="2500" b="1" dirty="0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2500" b="1" dirty="0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2.6. AI Token Consumption Meter &amp; Cost Optimization Dashboard </a:t>
            </a:r>
            <a:endParaRPr sz="2500" b="1" dirty="0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55" name="Google Shape;15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75" y="347125"/>
            <a:ext cx="3226975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34996" y="399846"/>
            <a:ext cx="4579200" cy="75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/>
          <p:nvPr/>
        </p:nvSpPr>
        <p:spPr>
          <a:xfrm>
            <a:off x="0" y="17698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51" r="-6251"/>
            </a:stretch>
          </a:blipFill>
          <a:ln>
            <a:noFill/>
          </a:ln>
        </p:spPr>
      </p:sp>
      <p:sp>
        <p:nvSpPr>
          <p:cNvPr id="162" name="Google Shape;162;p14"/>
          <p:cNvSpPr/>
          <p:nvPr/>
        </p:nvSpPr>
        <p:spPr>
          <a:xfrm>
            <a:off x="-1315075" y="7996205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sp>
        <p:nvSpPr>
          <p:cNvPr id="163" name="Google Shape;163;p14"/>
          <p:cNvSpPr/>
          <p:nvPr/>
        </p:nvSpPr>
        <p:spPr>
          <a:xfrm>
            <a:off x="13982685" y="-2217964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sp>
        <p:nvSpPr>
          <p:cNvPr id="164" name="Google Shape;164;p14"/>
          <p:cNvSpPr txBox="1"/>
          <p:nvPr/>
        </p:nvSpPr>
        <p:spPr>
          <a:xfrm>
            <a:off x="4229085" y="1233400"/>
            <a:ext cx="9753600" cy="66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96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&amp; Domain Name </a:t>
            </a:r>
            <a:endParaRPr/>
          </a:p>
        </p:txBody>
      </p:sp>
      <p:sp>
        <p:nvSpPr>
          <p:cNvPr id="165" name="Google Shape;165;p14"/>
          <p:cNvSpPr txBox="1"/>
          <p:nvPr/>
        </p:nvSpPr>
        <p:spPr>
          <a:xfrm>
            <a:off x="678856" y="2371442"/>
            <a:ext cx="16521600" cy="7257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miss relevant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hackathons, internships, workshops, and events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opportunities are scattered across platforms and recommendations are generic. Existing systems lack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student-specific skill profiling, intelligent event understanding, and personalized discovery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/ Aim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 – AI-Powered College Event Intelligence Platform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personalized event discovery system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understands student capabilities and connects them with suitable opportunities.</a:t>
            </a:r>
          </a:p>
          <a:p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/ Approach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 introduces a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Skill Board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tracks student participation in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hackathons, internships, events, workshops, and projects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continuously building a dynamic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and activity profile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Two specialized AI agents power the system:</a:t>
            </a:r>
          </a:p>
          <a:p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Agent: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matching, semantic similarity, personalization, and ranking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recommend relevant opportunities.</a:t>
            </a:r>
          </a:p>
          <a:p>
            <a:pPr lvl="0"/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Intelligence Agent: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(NLP), information extraction, event classification, domain tagging, and metadata analysis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create structured event profiles.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agents work together to perform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student–event matching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generate personalized recommendations.</a:t>
            </a:r>
          </a:p>
          <a:p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Impact / Outcome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 aims to reduce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overload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improve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discovery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increase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engagement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deliver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recommendations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aligned with individual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skills, interests, experience, and career goals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Keywords: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Artificial Intelligence, NLP, Personalized Recommendation, Multi-Agent AI, Skill Profiling, Event Intelligence, Semantic Matching, Event Classification, Intelligent Search, Student Engagement.</a:t>
            </a:r>
          </a:p>
          <a:p>
            <a:pPr marL="314141" marR="0" lvl="1" indent="-157070" algn="just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endParaRPr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6" name="Google Shape;1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75" y="347125"/>
            <a:ext cx="3226975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34996" y="399846"/>
            <a:ext cx="4579200" cy="75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51" r="-6251"/>
            </a:stretch>
          </a:blipFill>
          <a:ln>
            <a:noFill/>
          </a:ln>
        </p:spPr>
      </p:sp>
      <p:sp>
        <p:nvSpPr>
          <p:cNvPr id="173" name="Google Shape;173;p15"/>
          <p:cNvSpPr/>
          <p:nvPr/>
        </p:nvSpPr>
        <p:spPr>
          <a:xfrm>
            <a:off x="-832600" y="8721930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sp>
        <p:nvSpPr>
          <p:cNvPr id="174" name="Google Shape;174;p15"/>
          <p:cNvSpPr/>
          <p:nvPr/>
        </p:nvSpPr>
        <p:spPr>
          <a:xfrm>
            <a:off x="13982685" y="-2217964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pic>
        <p:nvPicPr>
          <p:cNvPr id="175" name="Google Shape;1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75" y="347125"/>
            <a:ext cx="3226975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34996" y="399846"/>
            <a:ext cx="4579200" cy="75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5" descr="$PPTXTitle"/>
          <p:cNvSpPr txBox="1"/>
          <p:nvPr/>
        </p:nvSpPr>
        <p:spPr>
          <a:xfrm>
            <a:off x="3927365" y="1065215"/>
            <a:ext cx="10433400" cy="14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10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of the Project</a:t>
            </a:r>
            <a:endParaRPr sz="4800" b="1" u="sng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62052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b="1" u="sng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C2FCAD-8668-466D-9031-E9A067938887}"/>
              </a:ext>
            </a:extLst>
          </p:cNvPr>
          <p:cNvSpPr txBox="1"/>
          <p:nvPr/>
        </p:nvSpPr>
        <p:spPr>
          <a:xfrm>
            <a:off x="722671" y="2526965"/>
            <a:ext cx="15072851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Personalized Skill Board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track student participation, activities, skills, and achievements.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dynamic student skill profiles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academic activities, projects, hackathons, events, and GitHub contributions.</a:t>
            </a:r>
          </a:p>
          <a:p>
            <a:pPr lvl="0"/>
            <a:r>
              <a:rPr lang="en-IN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understand events automatically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AI, NLP, classification, and domain extraction.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a Recommendation Agent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match individual student profiles with relevant opportunities.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an Event Intelligence Agent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convert raw event information into structured event profiles.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personalized recommendations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on skills, interests, experience, career goals, and eligibility.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improve recommendations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student interactions, participation, and feedback.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student engagement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helping students discover relevant academic and career opportunities efficiently.</a:t>
            </a:r>
          </a:p>
          <a:p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51" r="-6251"/>
            </a:stretch>
          </a:blipFill>
          <a:ln>
            <a:noFill/>
          </a:ln>
        </p:spPr>
      </p:sp>
      <p:sp>
        <p:nvSpPr>
          <p:cNvPr id="183" name="Google Shape;183;p16"/>
          <p:cNvSpPr/>
          <p:nvPr/>
        </p:nvSpPr>
        <p:spPr>
          <a:xfrm>
            <a:off x="-832600" y="8721930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sp>
        <p:nvSpPr>
          <p:cNvPr id="184" name="Google Shape;184;p16"/>
          <p:cNvSpPr/>
          <p:nvPr/>
        </p:nvSpPr>
        <p:spPr>
          <a:xfrm>
            <a:off x="13982685" y="-2217964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pic>
        <p:nvPicPr>
          <p:cNvPr id="185" name="Google Shape;18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75" y="347125"/>
            <a:ext cx="3226975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34996" y="399846"/>
            <a:ext cx="4579200" cy="75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6"/>
          <p:cNvSpPr txBox="1"/>
          <p:nvPr/>
        </p:nvSpPr>
        <p:spPr>
          <a:xfrm>
            <a:off x="3053350" y="1062800"/>
            <a:ext cx="12514200" cy="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Design &amp; Innovation</a:t>
            </a:r>
            <a:endParaRPr sz="48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CF4FA5-EE3D-326B-313E-9F4A276C7E6F}"/>
              </a:ext>
            </a:extLst>
          </p:cNvPr>
          <p:cNvSpPr txBox="1"/>
          <p:nvPr/>
        </p:nvSpPr>
        <p:spPr>
          <a:xfrm>
            <a:off x="8694174" y="500707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D0EB39-F2E8-A427-9135-1261CB9A5DD8}"/>
              </a:ext>
            </a:extLst>
          </p:cNvPr>
          <p:cNvSpPr txBox="1"/>
          <p:nvPr/>
        </p:nvSpPr>
        <p:spPr>
          <a:xfrm>
            <a:off x="472275" y="2458866"/>
            <a:ext cx="16886903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DESIGN &amp; INNOVATION</a:t>
            </a:r>
          </a:p>
          <a:p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Design :</a:t>
            </a:r>
          </a:p>
          <a:p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:   https://github.com/Aravind-S-21/ace.git</a:t>
            </a:r>
          </a:p>
          <a:p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Skill Board: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Maintains a dynamic profile of student skills, activities, participation, and achievements.</a:t>
            </a:r>
          </a:p>
          <a:p>
            <a:pPr lvl="0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Intelligence Agent: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Converts raw event descriptions into structured information such as domain, skills, category, eligibility, and target audience.</a:t>
            </a:r>
          </a:p>
          <a:p>
            <a:pPr lvl="0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Agent: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Matches student profiles with event profiles and ranks the most relevant opportunities.</a:t>
            </a:r>
          </a:p>
          <a:p>
            <a:pPr lvl="0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Matching: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Combines skills, interests, experience, career goals, and eligibility for personalized recommendations.</a:t>
            </a:r>
          </a:p>
          <a:p>
            <a:pPr lvl="0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Learning: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Student interactions and participation update the skill profile and improve future recommendations.</a:t>
            </a:r>
          </a:p>
          <a:p>
            <a:pPr lvl="0"/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: </a:t>
            </a:r>
          </a:p>
          <a:p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Two-Agent AI Architecture: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Separates event understanding from student-specific recommendation for better specialization.</a:t>
            </a:r>
          </a:p>
          <a:p>
            <a:pPr lvl="0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Skill Evolution: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student profile continuously evolves based on real-world participation.</a:t>
            </a:r>
          </a:p>
          <a:p>
            <a:pPr lvl="0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Recommendations: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Moves beyond generic event listings to recommendations tailored to individual needs.</a:t>
            </a:r>
          </a:p>
          <a:p>
            <a:pPr lvl="0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Recommendations: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Shows why an event is relevant based on the student’s skills and interests.</a:t>
            </a:r>
          </a:p>
          <a:p>
            <a:pPr lvl="0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Closed-Loop Intelligence: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→ Skill Update → Better Matching → Better Recommendations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creating continuous personalization.</a:t>
            </a:r>
          </a:p>
          <a:p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51" r="-6251"/>
            </a:stretch>
          </a:blipFill>
          <a:ln>
            <a:noFill/>
          </a:ln>
        </p:spPr>
      </p:sp>
      <p:sp>
        <p:nvSpPr>
          <p:cNvPr id="193" name="Google Shape;193;p17"/>
          <p:cNvSpPr/>
          <p:nvPr/>
        </p:nvSpPr>
        <p:spPr>
          <a:xfrm>
            <a:off x="-832600" y="8721930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sp>
        <p:nvSpPr>
          <p:cNvPr id="194" name="Google Shape;194;p17"/>
          <p:cNvSpPr/>
          <p:nvPr/>
        </p:nvSpPr>
        <p:spPr>
          <a:xfrm>
            <a:off x="13982685" y="-2217964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pic>
        <p:nvPicPr>
          <p:cNvPr id="195" name="Google Shape;19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75" y="347125"/>
            <a:ext cx="3226975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34996" y="399846"/>
            <a:ext cx="4579200" cy="75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 txBox="1"/>
          <p:nvPr/>
        </p:nvSpPr>
        <p:spPr>
          <a:xfrm>
            <a:off x="3075500" y="537700"/>
            <a:ext cx="12514200" cy="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1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Workflow / Approach</a:t>
            </a:r>
            <a:endParaRPr sz="41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C1BAF4-594E-6380-6262-8780CD4AEEEA}"/>
              </a:ext>
            </a:extLst>
          </p:cNvPr>
          <p:cNvSpPr txBox="1"/>
          <p:nvPr/>
        </p:nvSpPr>
        <p:spPr>
          <a:xfrm>
            <a:off x="622135" y="1690896"/>
            <a:ext cx="13967377" cy="8494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Onboarding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→ Profile → Interests &amp; Career Goals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Skill Board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Activities + Hackathons + Events + Projects + GitHub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Onboarding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→ Profile → Interests &amp; Career Goals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Skill Board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Activities + Hackathons + Events + Projects + GitHub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Intelligence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Extraction → Student Skill Profile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Intelligence Agent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Event Data → NLP Analysis → Event Profile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Agent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Profile + Event Profile → Matching → Ranking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Relevant Events → Student Participation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Loop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Participation → Skill Update → Improved Recommendations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Intelligence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Extraction → Student Skill Profile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Intelligence Agent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Event Data → NLP Analysis → Event Profile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Agent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Profile + Event Profile → Matching → Ranking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Relevant Events → Student Participation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Loop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Participation → Skill Update → Improved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AAB84A-A876-32BB-F951-CD69ADA02D25}"/>
              </a:ext>
            </a:extLst>
          </p:cNvPr>
          <p:cNvSpPr txBox="1"/>
          <p:nvPr/>
        </p:nvSpPr>
        <p:spPr>
          <a:xfrm>
            <a:off x="8613058" y="2896731"/>
            <a:ext cx="81620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Data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→ Student Profile → Skill Representation</a:t>
            </a:r>
            <a:b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Data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→ Event Intelligence → Structured Event Profile</a:t>
            </a:r>
            <a:b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Profile + Event Profile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→ AI Matching → Recommendation Score</a:t>
            </a:r>
            <a:b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Interaction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→ Feedback Data → Profile Update</a:t>
            </a:r>
          </a:p>
          <a:p>
            <a:b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51" r="-6251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203" name="Google Shape;203;p18"/>
          <p:cNvSpPr/>
          <p:nvPr/>
        </p:nvSpPr>
        <p:spPr>
          <a:xfrm>
            <a:off x="-832600" y="8721930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sp>
        <p:nvSpPr>
          <p:cNvPr id="204" name="Google Shape;204;p18"/>
          <p:cNvSpPr/>
          <p:nvPr/>
        </p:nvSpPr>
        <p:spPr>
          <a:xfrm>
            <a:off x="13982685" y="-2217964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pic>
        <p:nvPicPr>
          <p:cNvPr id="205" name="Google Shape;20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75" y="347125"/>
            <a:ext cx="3226975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34996" y="399846"/>
            <a:ext cx="4579200" cy="75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8"/>
          <p:cNvSpPr txBox="1"/>
          <p:nvPr/>
        </p:nvSpPr>
        <p:spPr>
          <a:xfrm>
            <a:off x="2945893" y="266700"/>
            <a:ext cx="12514200" cy="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1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Diagram</a:t>
            </a:r>
            <a:endParaRPr sz="4100" b="1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5C0FDE-7EBF-5A06-0CFC-1178BFED5D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987" y="1256400"/>
            <a:ext cx="18170013" cy="8763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51" r="-6251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213" name="Google Shape;213;p19"/>
          <p:cNvSpPr/>
          <p:nvPr/>
        </p:nvSpPr>
        <p:spPr>
          <a:xfrm>
            <a:off x="-832600" y="8721930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sp>
        <p:nvSpPr>
          <p:cNvPr id="214" name="Google Shape;214;p19"/>
          <p:cNvSpPr/>
          <p:nvPr/>
        </p:nvSpPr>
        <p:spPr>
          <a:xfrm>
            <a:off x="13982685" y="-2217964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pic>
        <p:nvPicPr>
          <p:cNvPr id="215" name="Google Shape;21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75" y="347125"/>
            <a:ext cx="3226975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34996" y="399846"/>
            <a:ext cx="4579200" cy="75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2886898" y="149096"/>
            <a:ext cx="12514200" cy="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39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 / UI Screens</a:t>
            </a:r>
            <a:endParaRPr sz="3900" b="1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A0A375-AAFD-E60E-7236-E5FBAE5D0D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" y="1538642"/>
            <a:ext cx="18287999" cy="88303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b01b740ba_1_4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51" r="-6251"/>
            </a:stretch>
          </a:blipFill>
          <a:ln>
            <a:noFill/>
          </a:ln>
        </p:spPr>
      </p:sp>
      <p:sp>
        <p:nvSpPr>
          <p:cNvPr id="223" name="Google Shape;223;g3fb01b740ba_1_43"/>
          <p:cNvSpPr/>
          <p:nvPr/>
        </p:nvSpPr>
        <p:spPr>
          <a:xfrm>
            <a:off x="-832600" y="8721930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sp>
        <p:nvSpPr>
          <p:cNvPr id="224" name="Google Shape;224;g3fb01b740ba_1_43"/>
          <p:cNvSpPr/>
          <p:nvPr/>
        </p:nvSpPr>
        <p:spPr>
          <a:xfrm>
            <a:off x="13982685" y="-2217964"/>
            <a:ext cx="5138677" cy="4419262"/>
          </a:xfrm>
          <a:custGeom>
            <a:avLst/>
            <a:gdLst/>
            <a:ahLst/>
            <a:cxnLst/>
            <a:rect l="l" t="t" r="r" b="b"/>
            <a:pathLst>
              <a:path w="5138677" h="4419262" extrusionOk="0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0000"/>
            </a:blip>
            <a:stretch>
              <a:fillRect/>
            </a:stretch>
          </a:blipFill>
          <a:ln>
            <a:noFill/>
          </a:ln>
        </p:spPr>
      </p:sp>
      <p:pic>
        <p:nvPicPr>
          <p:cNvPr id="225" name="Google Shape;225;g3fb01b740ba_1_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75" y="347125"/>
            <a:ext cx="3226975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fb01b740ba_1_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34996" y="399846"/>
            <a:ext cx="4579200" cy="75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fb01b740ba_1_43"/>
          <p:cNvSpPr txBox="1"/>
          <p:nvPr/>
        </p:nvSpPr>
        <p:spPr>
          <a:xfrm>
            <a:off x="3119800" y="531175"/>
            <a:ext cx="12514200" cy="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1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Thank You</a:t>
            </a:r>
            <a:endParaRPr sz="41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2F94A2-0057-2867-2BBE-EC99059D9158}"/>
              </a:ext>
            </a:extLst>
          </p:cNvPr>
          <p:cNvSpPr txBox="1"/>
          <p:nvPr/>
        </p:nvSpPr>
        <p:spPr>
          <a:xfrm>
            <a:off x="1356852" y="2548423"/>
            <a:ext cx="139372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 – AI-Powered College Event Intelligence Platform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 a smarter and personalized way for students to discover relevant opportunities. The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Skill Board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continuously tracks student activities, skills, and participation, while the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Intelligence Agent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understands and structures event information. The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Agent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then matches student profiles with suitable events and delivers personalized recommendations.</a:t>
            </a:r>
          </a:p>
          <a:p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 continuous feedback and skill updates, ACE improves recommendations over time. The system reduces information overload, increases student engagement, and helps students discover opportunities aligned with their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skills, interests, experience, and career goals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Profile + Event Intelligence + AI Recommendation → Smarter Opportunities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1359</Words>
  <Application>Microsoft Office PowerPoint</Application>
  <PresentationFormat>Custom</PresentationFormat>
  <Paragraphs>163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Sripal Dhanapal</dc:creator>
  <cp:lastModifiedBy>Sripal Dhanapal</cp:lastModifiedBy>
  <cp:revision>4</cp:revision>
  <dcterms:created xsi:type="dcterms:W3CDTF">2006-08-16T00:00:00Z</dcterms:created>
  <dcterms:modified xsi:type="dcterms:W3CDTF">2026-09-02T10:54:01Z</dcterms:modified>
</cp:coreProperties>
</file>